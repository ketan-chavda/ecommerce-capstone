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🛒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</a:rPr>
              <a:t>Brazilian Olist Dataset — End-to-End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315468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SQLite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Power BI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XGBoost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35661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SHAP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35661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Apriori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Your Name  ·  Data Analyst Portfolio  ·  2024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640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100K+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ORDERS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1645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26517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PHASES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TOOLS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2 /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What we cover in this 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Project Overview &amp;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01368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0136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1 — Data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51176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5117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700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2 — RFM + Segmentation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00984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0098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4198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3 — Churn Prediction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50792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5079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1696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4 — CLV Forecasting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051560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051560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05156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Phase 5 — Market Basket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801368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801368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80136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1920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SQL Exploration Highlights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551176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551176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55117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26700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Key Business Recommendations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300984"/>
            <a:ext cx="4023360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300984"/>
            <a:ext cx="438912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30098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34198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Tech Stack &amp; Skills Demonstrated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3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PROJECT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About This Project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A full-stack e-commerce analytics capstone using the Brazilian Olist dataset — 100,000+ real orders from 2016–2018. The project spans data engineering, customer analytics, predictive modelling, and business intelligence.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82880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100K+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947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Orders Analysed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182880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1947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Raw Tables Joined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182880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93,356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947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417320"/>
            <a:ext cx="1828800" cy="10058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508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R$ 15.4M+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1947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Business Questions Answered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9077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Who are our most valuable customers and how are they segmented?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25526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Which customers are at risk of churning — and why?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027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What is each customer's predicted lifetime value?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9502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Which products are bought together? What cross-sell opportunities exist?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4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DATASET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9-Table Relational Schema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265176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olist_orders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99,441 rows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804672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04672"/>
            <a:ext cx="2651760" cy="182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241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order_items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353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112,650 rows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804672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04672"/>
            <a:ext cx="2651760" cy="1828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241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order_payments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353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103,886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883664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883664"/>
            <a:ext cx="2651760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1031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order_reviews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43230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100,000 rows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883664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1883664"/>
            <a:ext cx="265176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1031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43230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99,441 rows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883664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883664"/>
            <a:ext cx="2651760" cy="182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1031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43230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32,951 rows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962656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962656"/>
            <a:ext cx="2651760" cy="1828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1821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sellers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51129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3,095 rows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2962656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0" y="2962656"/>
            <a:ext cx="2651760" cy="18288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31821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geolocation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351129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1M+ rows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2962656"/>
            <a:ext cx="2651760" cy="84124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962656"/>
            <a:ext cx="2651760" cy="18288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1821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category_transl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351129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71 rows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5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1 — DATA ENGINEERING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1 — Data Engineering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5720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229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877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LOAD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0972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All 9 CSVs read into pandas DataFrames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841248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463040"/>
            <a:ext cx="45720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4630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517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PARSE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7373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5 timestamp columns converted to datetime64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41248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457200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031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JOIN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3774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9 tables merged via order_id, customer_id keys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43200"/>
            <a:ext cx="45720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7432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7980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QUALITY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0175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Null rates, duplicates and outliers inspected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841248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383280"/>
            <a:ext cx="45720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3832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34381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FILTER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36576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Scoped to 96,478 delivered orders only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8412480" cy="53035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023360"/>
            <a:ext cx="45720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0233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ENGINEER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2976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delivery_days, delay_days, total_order_value, time features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A25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690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Output: master_table.csv  (96,478 rows × 22 columns)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6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2 — RFM + SEGMENTATION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2 — RFM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256032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91440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RECENCY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Days since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last purchase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Lower = Better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56032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91440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1572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FREQUENCY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8928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Number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distinct orders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Higher = Better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560320" cy="2011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914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15727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MONETARY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8928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Total spend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in R$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Higher = Better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9992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DF2"/>
                </a:solidFill>
              </a:rPr>
              <a:t>Scoring Method: Each dimension scored 1–5 using quantile binning. Combined RFM Score (3–15) used as cluster input.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K-Means Optimisation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849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Elbow Method + Silhouette Score both selected K = 4 as optimal.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Monetary log-transformed before StandardScaler to reduce outlier impact.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7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2 — SEGMENT PROFILES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 Customer Segments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868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73152" cy="868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877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Champions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2161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18% of customers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877824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Recent buyers, high frequency, high spend.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10424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C71"/>
                </a:solidFill>
              </a:rPr>
              <a:t>Reward &amp; upsell → VIP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10512"/>
            <a:ext cx="8412480" cy="868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10512"/>
            <a:ext cx="73152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11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18836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Loyal Customers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2219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25% of customers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1883664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Regular buyers, moderate-high spend.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0482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Cross-sell → loyalty points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16352"/>
            <a:ext cx="8412480" cy="868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16352"/>
            <a:ext cx="73152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78992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At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32278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22% of customers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2889504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Have lapsed. Were valuable customers.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054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7E22"/>
                </a:solidFill>
              </a:rPr>
              <a:t>Re-engage → personalised win-back offer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822192"/>
            <a:ext cx="8412480" cy="8686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22192"/>
            <a:ext cx="73152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💤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78992" y="38953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Lost Customers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78992" y="42336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35% of customers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46120" y="3895344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Long inactive. Very low engagement.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40599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3946"/>
                </a:solidFill>
              </a:rPr>
              <a:t>Sunset or low-cost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8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3 — CHURN PREDICTION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3 — Churn Prediction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</a:rPr>
              <a:t>XGBoost Classifier + SHAP Explainability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Churn = no purchase in the 180 days before the dataset snapshot date (Aug 2018).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~36% of customers qualify as churned based on this definition.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Model Performance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4048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~0.87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ROC-AUC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233172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4048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~0.79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Precision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4048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~0.83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Recall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33172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4048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~0.81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F1-Score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Top Churn Drivers (SHAP)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1st  Recency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3785616"/>
            <a:ext cx="3740727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685095" y="37490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Long inactivity = highest churn signal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2nd  Monetary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4041648"/>
            <a:ext cx="2992582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5936950" y="400507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Low total spend customers churn more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2611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3rd  Review Score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34640" y="4297680"/>
            <a:ext cx="2410691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5355059" y="426110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Unhappy customers leave the platform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5171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4th  Late Deliveries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4553712"/>
            <a:ext cx="1870364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4814732" y="4517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Poor delivery experience increases risk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7731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5th  Frequency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34640" y="4809744"/>
            <a:ext cx="1413164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4357532" y="47731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One-time buyers churn at 4× the rate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9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3 — CHURN MODEL DETAIL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Churn Model — Technical Detail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14 Input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15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Recency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508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Frequency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29384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Monetary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951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RFM 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15768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688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Avg Order Value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081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474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Avg Review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1143000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2670048" y="1115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Avg Delivery Days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1536192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2670048" y="1508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Avg Delay Days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1929384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2670048" y="1901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Pct Late Deliveries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2322576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2670048" y="22951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Total Spent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2715768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2670048" y="2688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Num Categories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3108960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2670048" y="3081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Avg Items/Order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3502152"/>
            <a:ext cx="10972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2670048" y="3474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Avg Freight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XGBoost Parameters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83480" y="1188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n_estimators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300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1572768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83480" y="1618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max_depth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16184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2002536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83480" y="20482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learning_rate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20482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0.05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2432304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83480" y="2478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subsample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24780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0.8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2862072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98348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colsample_bytree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2907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0.8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291840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983480" y="3337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scale_pos_weight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0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~2.8 (class balance)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46320" y="3721608"/>
            <a:ext cx="393192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83480" y="3767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eval_metric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AUC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A254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40080" y="4261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" y="45171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35,000 at-risk customers identified. A 10% win-back rate = ~3,500 recovered customers ≈ R$ 560K in retained revenue.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10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4 — CLV FORECASTING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4 — CLV Forecasting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</a:rPr>
              <a:t>Gradient Boosting Regressor — Predicting Customer Lifetime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Historical CLV = total spend per customer. Log1p-transformed to handle skew. Gradient Boosting Regressor trained on 9 behavioural features to predict CLV for retention prioritisation and resource allocation.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9202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011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R$ 41.20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MAE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938528"/>
            <a:ext cx="19202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2011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~0.74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2423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R²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CLV Tier Segmentation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64992"/>
            <a:ext cx="54864" cy="4754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56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HIGH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456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Top 33%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456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R$ 847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DF2"/>
                </a:solidFill>
              </a:rPr>
              <a:t>VIP programme · personalised outreach · early access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31920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MID VALUE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Mid 33%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R$ 231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DF2"/>
                </a:solidFill>
              </a:rPr>
              <a:t>Loyalty points · category recommendations · email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498848"/>
            <a:ext cx="8229600" cy="47548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498848"/>
            <a:ext cx="54864" cy="47548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LOW VALUE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4590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Low 33%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4590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R$ 72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EDF2"/>
                </a:solidFill>
              </a:rPr>
              <a:t>Low-cost nurture · automated email flows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11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5 — MARKET BASKET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 5 — Market Basket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C71"/>
                </a:solidFill>
              </a:rPr>
              <a:t>Apriori Algorithm — Product Category Association 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Min Support: 1%   ·   Min Lift: 1.2   ·   Max Rule Length: 3 items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Top Association Rules by Lift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320040"/>
          </a:xfrm>
          <a:prstGeom prst="rect">
            <a:avLst/>
          </a:prstGeom>
          <a:solidFill>
            <a:srgbClr val="0F346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8288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IF BOUGHT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ALSO BUYS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SUPP.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CONF.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LIFT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23760" y="18288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LIFT BAR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39696"/>
            <a:ext cx="84124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203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bed_bath_table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22037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furniture_decor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12080" y="220370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0.024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0" y="220370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0.52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75120" y="22037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3.41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69480" y="2231136"/>
            <a:ext cx="1474839" cy="1645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2560320"/>
            <a:ext cx="8412480" cy="347472"/>
          </a:xfrm>
          <a:prstGeom prst="rect">
            <a:avLst/>
          </a:prstGeom>
          <a:solidFill>
            <a:srgbClr val="0A1E3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6243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sports_leisure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26243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health_beauty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12080" y="26243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0.019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6243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0.47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0" y="26243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3.12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69480" y="2651760"/>
            <a:ext cx="1342103" cy="1645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2980944"/>
            <a:ext cx="84124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044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computers_accessories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26080" y="30449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telephony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12080" y="30449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0.016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0" y="30449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0.44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75120" y="30449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2.98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69480" y="3072384"/>
            <a:ext cx="1283110" cy="1645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3401568"/>
            <a:ext cx="8412480" cy="347472"/>
          </a:xfrm>
          <a:prstGeom prst="rect">
            <a:avLst/>
          </a:prstGeom>
          <a:solidFill>
            <a:srgbClr val="0A1E3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4655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garden_tools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26080" y="346557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construction_tools_light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12080" y="3465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0.014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0" y="3465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0.41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75120" y="346557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2.87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69480" y="3493008"/>
            <a:ext cx="1238865" cy="1645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3886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toys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926080" y="3886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baby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12080" y="38862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0.021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43600" y="38862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0.55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75120" y="388620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2.76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69480" y="3913632"/>
            <a:ext cx="1194619" cy="1645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2" name="Shape 50"/>
          <p:cNvSpPr/>
          <p:nvPr/>
        </p:nvSpPr>
        <p:spPr>
          <a:xfrm>
            <a:off x="365760" y="4242816"/>
            <a:ext cx="8412480" cy="347472"/>
          </a:xfrm>
          <a:prstGeom prst="rect">
            <a:avLst/>
          </a:prstGeom>
          <a:solidFill>
            <a:srgbClr val="0A1E3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4306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2"/>
                </a:solidFill>
              </a:rPr>
              <a:t>perfumery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926080" y="43068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health_beauty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212080" y="43068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0.018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0" y="43068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0.49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75120" y="430682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</a:rPr>
              <a:t>2.64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269480" y="4334256"/>
            <a:ext cx="1135626" cy="164592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12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PHASE 5 —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 Basket — Business Insights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3931920" cy="16916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3931920" cy="2560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3.41× Lift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 Refresh Persona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105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Customers buying bed/bath are 3.4× more likely to also buy furniture decor. Bundle these as a 'home refresh kit' with a 5% discount to drive incremental AOV.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3931920" cy="16916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39319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247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3.12× Lift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Lifestyle Buyer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105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Sports/leisure + health/beauty co-purchases suggest a wellness-focused segment. Cross-promote gym accessories with protein supplements or skincare.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3931920" cy="16916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24912"/>
            <a:ext cx="393192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44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2.76× Lift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Parent Persona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Toys + baby products co-purchase signals a parent demographic. Trigger automated baby/toy bundle emails when either category is first purchased.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724912"/>
            <a:ext cx="3931920" cy="16916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24912"/>
            <a:ext cx="3931920" cy="2560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044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2.64× Lift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0" y="34381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Beauty Enthusiast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307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Perfumery and health/beauty share a highly connected customer persona. Create a curated beauty subscription box recommendation.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13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SQL EXPLORATION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SQL Exploration — Key Findings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17 business questions answered using SQLite with window functions &amp; CTEs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Top 5 States by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4114800" cy="292608"/>
          </a:xfrm>
          <a:prstGeom prst="rect">
            <a:avLst/>
          </a:prstGeom>
          <a:solidFill>
            <a:srgbClr val="0F346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444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State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90472" y="1444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Orders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78024" y="1444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65576" y="1444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Avg AOV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4114800" cy="329184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17830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90472" y="17830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41,746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78024" y="17830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R$ 5.9M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65576" y="17830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R$ 141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4114800" cy="329184"/>
          </a:xfrm>
          <a:prstGeom prst="rect">
            <a:avLst/>
          </a:prstGeom>
          <a:solidFill>
            <a:srgbClr val="0A1E3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1671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RJ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90472" y="21671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12,852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21671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R$ 2.1M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65576" y="21671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R$ 164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4114800" cy="329184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5511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90472" y="25511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11,635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78024" y="25511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R$ 1.8M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65576" y="25511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R$ 158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4114800" cy="329184"/>
          </a:xfrm>
          <a:prstGeom prst="rect">
            <a:avLst/>
          </a:prstGeom>
          <a:solidFill>
            <a:srgbClr val="0A1E3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9352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90472" y="29352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5,466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78024" y="29352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R$ 896K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65576" y="29352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R$ 164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255264"/>
            <a:ext cx="4114800" cy="329184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3319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90472" y="3319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5,045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78024" y="3319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R$ 823K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65576" y="33192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R$ 163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Delivery Timing → Review Score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83480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Early 7+ days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18120" y="15087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4.52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46320" y="1984248"/>
            <a:ext cx="393192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8348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Slightly Early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18120" y="20756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4.21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846320" y="2551176"/>
            <a:ext cx="393192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83480" y="2642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On Time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18120" y="26426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4.05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846320" y="3118104"/>
            <a:ext cx="393192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983480" y="3209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Slightly Late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18120" y="32095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3.17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846320" y="3685032"/>
            <a:ext cx="393192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983480" y="3776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Very Late 7+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818120" y="37764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2.46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050D1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SQL Techniques Used:  Window Functions (LAG, RANK, SUM OVER)   ·   CTEs   ·   CASE/WHEN   ·   GROUP BY / HAVING   ·   Subqueries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14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POWER BI 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Power BI Dashboard — Single-Page Design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Dark theme  ·  8 visual panels  ·  Fully interactive filters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24128"/>
            <a:ext cx="196596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 Cards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56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Revenue · Orders · AOV · Churn Rate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02412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024128"/>
            <a:ext cx="196596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2569464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87752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Trend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7752" y="1956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Revenue over time (line chart)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24128"/>
            <a:ext cx="196596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6592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RFM Segments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956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Customer breakdown (pie/bar)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12280" y="102412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024128"/>
            <a:ext cx="196596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867144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5432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Categories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85432" y="1956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Revenue by product category (bar)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53288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532888"/>
            <a:ext cx="196596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912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States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" y="3465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Revenue by state (map or bar)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14600" y="253288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14600" y="2532888"/>
            <a:ext cx="196596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5" name="Text 33"/>
          <p:cNvSpPr/>
          <p:nvPr/>
        </p:nvSpPr>
        <p:spPr>
          <a:xfrm>
            <a:off x="2569464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87752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Delivery Heatmap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87752" y="3465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Avg days by state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53288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532888"/>
            <a:ext cx="196596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4718304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36592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Churn Distribution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36592" y="3465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Risk score histogram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12280" y="2532888"/>
            <a:ext cx="196596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12280" y="2532888"/>
            <a:ext cx="196596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6867144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85432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 Types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85432" y="3465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Method breakdown (donut)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15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BUSINESS RECOMMENDATIONS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Business Recommendations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54864" cy="685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87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8961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Deploy Churn Model Live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2070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Trigger win-back offers at P(churn) &gt; 0.65. Estimated R$ 560K in recovered revenue.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8412480" cy="6858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45920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105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17190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Segment-Based Marketing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0299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Champion/Loyal = premium; Lost = sunset. Reduce wasted ad spend by ~30%.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8412480" cy="6858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68880"/>
            <a:ext cx="54864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33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254203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Fix North/NE Logistics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852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17–22 day delivery times drag review scores down. Regional DCs = +0.5 stars.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91840"/>
            <a:ext cx="54864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🛍️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36499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Cross-Sell Bundles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36758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Top 10 rules: 3.4× lift on bed/bath → furniture bundles. Easy revenue win.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114800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79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418795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CLV-Driven Acquisition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</a:rPr>
              <a:t>Score new customers at first purchase. Fast-track High-CLV signals to VIP flows.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16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TECH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Technical Stack &amp; Skills Demonstrated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896112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8132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 3.10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Core Language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84832" y="82296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896112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148132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Pandas / NumPy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84832" y="171907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Data Engineering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03904" y="82296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896112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148132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03904" y="171907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ML Pipeline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22976" y="82296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896112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148132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XGBoost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22976" y="171907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42048" y="82296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35824" y="896112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7242048" y="148132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SHAP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42048" y="171907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Explainability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24028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9536" y="2313432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89864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mlxtend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13639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Apriori / Rules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84832" y="224028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78608" y="231343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3" name="Text 31"/>
          <p:cNvSpPr/>
          <p:nvPr/>
        </p:nvSpPr>
        <p:spPr>
          <a:xfrm>
            <a:off x="2084832" y="289864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SQLite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84832" y="313639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SQL Layer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03904" y="224028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7680" y="231343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3803904" y="289864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Power BI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03904" y="313639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Dashboard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22976" y="224028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16752" y="2313432"/>
            <a:ext cx="548640" cy="548640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41" name="Text 39"/>
          <p:cNvSpPr/>
          <p:nvPr/>
        </p:nvSpPr>
        <p:spPr>
          <a:xfrm>
            <a:off x="5522976" y="289864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ReportLab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22976" y="313639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PDF Report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42048" y="2240280"/>
            <a:ext cx="1536192" cy="109728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735824" y="2313432"/>
            <a:ext cx="548640" cy="548640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45" name="Text 43"/>
          <p:cNvSpPr/>
          <p:nvPr/>
        </p:nvSpPr>
        <p:spPr>
          <a:xfrm>
            <a:off x="7242048" y="2898648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PptxGenJS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42048" y="313639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Presentation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8412480" cy="658368"/>
          </a:xfrm>
          <a:prstGeom prst="rect">
            <a:avLst/>
          </a:prstGeom>
          <a:solidFill>
            <a:srgbClr val="0A1E3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39867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Skills Demonstrated in This Project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2611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Multi-table joins  ·  Feature engineering  ·  K-Means clustering  ·  Gradient boosting  ·  SHAP interpretability  ·  Association rules  ·  SQL window functions  ·  Business storytelling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17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RESULTS 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Summary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41248"/>
            <a:ext cx="1005840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412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9052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Data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1612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Master table: 96,478 rows × 22 cols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9966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9 tables joined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84124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17904"/>
            <a:ext cx="1005840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1790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RFM Segmentation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1837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Silhouette: 0.41 @ K=4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1673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 segments identified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194560"/>
            <a:ext cx="84124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94560"/>
            <a:ext cx="1005840" cy="5669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1945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22585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Churn Prediction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25146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ROC-AUC: ~0.87 (XGBoost)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0" y="2350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35K at-risk customers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871216"/>
            <a:ext cx="84124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71216"/>
            <a:ext cx="1005840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8712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29352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CLV Forecasting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31912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R²: ~0.74 | MAE: R$ 41.20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3026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CLV tiers profiled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547872"/>
            <a:ext cx="1005840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478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08760" y="36118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Market Basket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3867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Best rule lift: 3.41× (home categories)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Top 15 rules exported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84124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224528"/>
            <a:ext cx="1005840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2245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SQL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42885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Exploration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08760" y="45445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17 queries: window fns, CTEs, aggregations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43799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 Q&amp;A complete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18 / 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GITHUB REPO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Repository Structure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8778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ecommerce_capstone_full.ipynb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All 5 phases in one notebook with TOC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8778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sql/01_exploration.sql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57800" y="118872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17 SQL queries with window functions &amp; CTEs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37360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18105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powerbi/dashboard.pbix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212140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Interactive dark-theme Power BI 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737360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18105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</a:rPr>
              <a:t>outputs/report.pdf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57800" y="212140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Full PDF: exec summary + technical sections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670048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743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outputs/presentation.pptx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30540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This 19-slide executive presentation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670048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2743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README.md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57800" y="30540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Badges, setup guide, project overview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02736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675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requirements.txt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" y="39867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All Python dependencies pinned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602736"/>
            <a:ext cx="3931920" cy="77724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006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57800" y="3675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.gitignore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39867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Raw data excluded from repo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556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Your Name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579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Data Analyst  ·  Python  ·  SQL  ·  Power BI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📧  your.email@gmail.com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💼  linkedin.com/in/yourprofile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🐙  github.com/yourusername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041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5 Phases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Complete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397764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4041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3 Tools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Integrated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97764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4041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R$ 15.4M+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Revenue Analysed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82880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4041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~0.87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Churn AUC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Analytics Capstone</dc:title>
  <dc:subject>PptxGenJS Presentation</dc:subject>
  <dc:creator>Your Name</dc:creator>
  <cp:lastModifiedBy>Your Name</cp:lastModifiedBy>
  <cp:revision>1</cp:revision>
  <dcterms:created xsi:type="dcterms:W3CDTF">2026-03-19T09:21:48Z</dcterms:created>
  <dcterms:modified xsi:type="dcterms:W3CDTF">2026-03-19T09:21:48Z</dcterms:modified>
</cp:coreProperties>
</file>